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7" r:id="rId5"/>
    <p:sldId id="268" r:id="rId6"/>
    <p:sldId id="262" r:id="rId7"/>
    <p:sldId id="263" r:id="rId8"/>
    <p:sldId id="264" r:id="rId9"/>
    <p:sldId id="265" r:id="rId10"/>
    <p:sldId id="266" r:id="rId11"/>
    <p:sldId id="269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8F0C5-0540-4668-9275-48479BE5C7B3}" type="datetimeFigureOut">
              <a:rPr lang="ko-KR" altLang="en-US" smtClean="0"/>
              <a:t>2023-06-20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3A5E7-B4B3-423D-A6AA-C128D97797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758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8F0C5-0540-4668-9275-48479BE5C7B3}" type="datetimeFigureOut">
              <a:rPr lang="ko-KR" altLang="en-US" smtClean="0"/>
              <a:t>2023-06-20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3A5E7-B4B3-423D-A6AA-C128D97797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6359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8F0C5-0540-4668-9275-48479BE5C7B3}" type="datetimeFigureOut">
              <a:rPr lang="ko-KR" altLang="en-US" smtClean="0"/>
              <a:t>2023-06-20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3A5E7-B4B3-423D-A6AA-C128D97797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3819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8F0C5-0540-4668-9275-48479BE5C7B3}" type="datetimeFigureOut">
              <a:rPr lang="ko-KR" altLang="en-US" smtClean="0"/>
              <a:t>2023-06-20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3A5E7-B4B3-423D-A6AA-C128D97797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8801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8F0C5-0540-4668-9275-48479BE5C7B3}" type="datetimeFigureOut">
              <a:rPr lang="ko-KR" altLang="en-US" smtClean="0"/>
              <a:t>2023-06-20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3A5E7-B4B3-423D-A6AA-C128D97797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3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8F0C5-0540-4668-9275-48479BE5C7B3}" type="datetimeFigureOut">
              <a:rPr lang="ko-KR" altLang="en-US" smtClean="0"/>
              <a:t>2023-06-20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3A5E7-B4B3-423D-A6AA-C128D97797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8461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8F0C5-0540-4668-9275-48479BE5C7B3}" type="datetimeFigureOut">
              <a:rPr lang="ko-KR" altLang="en-US" smtClean="0"/>
              <a:t>2023-06-20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3A5E7-B4B3-423D-A6AA-C128D97797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0743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8F0C5-0540-4668-9275-48479BE5C7B3}" type="datetimeFigureOut">
              <a:rPr lang="ko-KR" altLang="en-US" smtClean="0"/>
              <a:t>2023-06-20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3A5E7-B4B3-423D-A6AA-C128D97797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9273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8F0C5-0540-4668-9275-48479BE5C7B3}" type="datetimeFigureOut">
              <a:rPr lang="ko-KR" altLang="en-US" smtClean="0"/>
              <a:t>2023-06-20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3A5E7-B4B3-423D-A6AA-C128D97797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0965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8F0C5-0540-4668-9275-48479BE5C7B3}" type="datetimeFigureOut">
              <a:rPr lang="ko-KR" altLang="en-US" smtClean="0"/>
              <a:t>2023-06-20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3A5E7-B4B3-423D-A6AA-C128D97797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4716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8F0C5-0540-4668-9275-48479BE5C7B3}" type="datetimeFigureOut">
              <a:rPr lang="ko-KR" altLang="en-US" smtClean="0"/>
              <a:t>2023-06-20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3A5E7-B4B3-423D-A6AA-C128D97797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8265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28F0C5-0540-4668-9275-48479BE5C7B3}" type="datetimeFigureOut">
              <a:rPr lang="ko-KR" altLang="en-US" smtClean="0"/>
              <a:t>2023-06-20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33A5E7-B4B3-423D-A6AA-C128D97797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6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50084" y="2778821"/>
            <a:ext cx="5291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채식주의자들을 위한 종류별 식당 소개 맞춤 </a:t>
            </a:r>
            <a:r>
              <a:rPr lang="ko-KR" altLang="en-US" dirty="0" err="1" smtClean="0"/>
              <a:t>어플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575392" y="3607937"/>
            <a:ext cx="3041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 smtClean="0"/>
              <a:t>스마트문화앱 개발환경 구축</a:t>
            </a:r>
            <a:r>
              <a:rPr lang="en-US" altLang="ko-KR" sz="1200" dirty="0" smtClean="0"/>
              <a:t>_</a:t>
            </a:r>
            <a:r>
              <a:rPr lang="ko-KR" altLang="en-US" sz="1200" dirty="0" smtClean="0"/>
              <a:t>평가</a:t>
            </a:r>
            <a:r>
              <a:rPr lang="en-US" altLang="ko-KR" sz="1200" dirty="0" smtClean="0"/>
              <a:t>_</a:t>
            </a:r>
            <a:r>
              <a:rPr lang="ko-KR" altLang="en-US" sz="1200" dirty="0" err="1" smtClean="0"/>
              <a:t>경효선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200358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5403273" y="1649996"/>
            <a:ext cx="1138843" cy="3693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4807150" y="2664148"/>
            <a:ext cx="2331087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개발 배경 및 필요성</a:t>
            </a:r>
            <a:endParaRPr lang="en-US" altLang="ko-KR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개발 목표</a:t>
            </a:r>
            <a:endParaRPr lang="en-US" altLang="ko-KR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개발 개요 및 내용</a:t>
            </a:r>
            <a:endParaRPr lang="en-US" altLang="ko-KR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일정</a:t>
            </a:r>
            <a:endParaRPr lang="en-US" altLang="ko-KR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예산</a:t>
            </a:r>
            <a:endParaRPr lang="en-US" altLang="ko-KR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기대효과</a:t>
            </a:r>
            <a:endParaRPr lang="en-US" altLang="ko-KR" sz="1600" dirty="0" smtClean="0"/>
          </a:p>
          <a:p>
            <a:pPr algn="ctr"/>
            <a:endParaRPr lang="ko-KR" altLang="en-US" sz="1400" dirty="0"/>
          </a:p>
        </p:txBody>
      </p:sp>
      <p:sp>
        <p:nvSpPr>
          <p:cNvPr id="3" name="TextBox 2"/>
          <p:cNvSpPr txBox="1"/>
          <p:nvPr/>
        </p:nvSpPr>
        <p:spPr>
          <a:xfrm>
            <a:off x="5655601" y="164999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</a:rPr>
              <a:t>목차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1354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59149" y="2169886"/>
            <a:ext cx="8246168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 smtClean="0"/>
              <a:t>2000</a:t>
            </a:r>
            <a:r>
              <a:rPr lang="ko-KR" altLang="en-US" sz="1200" dirty="0" smtClean="0"/>
              <a:t>년 인터넷상에서 이 단체 내에는 동물보호단체도 포함되어 있었다는 것으로 보아 우리나라 채식의 목적은</a:t>
            </a:r>
          </a:p>
          <a:p>
            <a:pPr algn="ctr"/>
            <a:r>
              <a:rPr lang="ko-KR" altLang="en-US" sz="1200" dirty="0" smtClean="0"/>
              <a:t>건강과 </a:t>
            </a:r>
            <a:r>
              <a:rPr lang="ko-KR" altLang="en-US" sz="1200" dirty="0" err="1" smtClean="0"/>
              <a:t>동물보호가</a:t>
            </a:r>
            <a:r>
              <a:rPr lang="ko-KR" altLang="en-US" sz="1200" dirty="0" smtClean="0"/>
              <a:t> 큰 것으로 보인다</a:t>
            </a:r>
            <a:r>
              <a:rPr lang="en-US" altLang="ko-KR" sz="1200" dirty="0" smtClean="0"/>
              <a:t>.</a:t>
            </a:r>
          </a:p>
          <a:p>
            <a:pPr algn="ctr"/>
            <a:r>
              <a:rPr lang="ko-KR" altLang="en-US" sz="1200" dirty="0" smtClean="0"/>
              <a:t>처음으로 “푸른 생명 </a:t>
            </a:r>
            <a:r>
              <a:rPr lang="ko-KR" altLang="en-US" sz="1200" dirty="0" err="1" smtClean="0"/>
              <a:t>한국채식연합”이</a:t>
            </a:r>
            <a:r>
              <a:rPr lang="ko-KR" altLang="en-US" sz="1200" dirty="0" smtClean="0"/>
              <a:t> 만들어졌다</a:t>
            </a:r>
            <a:r>
              <a:rPr lang="en-US" altLang="ko-KR" sz="1200" dirty="0" smtClean="0"/>
              <a:t>.</a:t>
            </a:r>
          </a:p>
          <a:p>
            <a:pPr algn="ctr"/>
            <a:endParaRPr lang="en-US" altLang="ko-KR" sz="1200" dirty="0" smtClean="0"/>
          </a:p>
          <a:p>
            <a:pPr algn="ctr"/>
            <a:r>
              <a:rPr lang="ko-KR" altLang="en-US" sz="1200" dirty="0" smtClean="0"/>
              <a:t>국내 채식 인구는 </a:t>
            </a:r>
            <a:r>
              <a:rPr lang="en-US" altLang="ko-KR" sz="1200" dirty="0" smtClean="0"/>
              <a:t>150 ~ 200</a:t>
            </a:r>
            <a:r>
              <a:rPr lang="ko-KR" altLang="en-US" sz="1200" dirty="0" smtClean="0"/>
              <a:t>만 명으로 추정되며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전체 인구의 </a:t>
            </a:r>
            <a:r>
              <a:rPr lang="en-US" altLang="ko-KR" sz="1200" dirty="0" smtClean="0"/>
              <a:t>3~4% </a:t>
            </a:r>
            <a:r>
              <a:rPr lang="ko-KR" altLang="en-US" sz="1200" dirty="0" smtClean="0"/>
              <a:t>정도로 많아졌으며</a:t>
            </a:r>
            <a:r>
              <a:rPr lang="en-US" altLang="ko-KR" sz="1200" dirty="0" smtClean="0"/>
              <a:t>,</a:t>
            </a:r>
          </a:p>
          <a:p>
            <a:pPr algn="ctr"/>
            <a:r>
              <a:rPr lang="en-US" altLang="ko-KR" sz="1200" dirty="0" smtClean="0"/>
              <a:t>10</a:t>
            </a:r>
            <a:r>
              <a:rPr lang="ko-KR" altLang="en-US" sz="1200" dirty="0" smtClean="0"/>
              <a:t>년 새에 </a:t>
            </a:r>
            <a:r>
              <a:rPr lang="en-US" altLang="ko-KR" sz="1200" dirty="0" smtClean="0"/>
              <a:t>2</a:t>
            </a:r>
            <a:r>
              <a:rPr lang="ko-KR" altLang="en-US" sz="1200" dirty="0" err="1" smtClean="0"/>
              <a:t>배가량</a:t>
            </a:r>
            <a:r>
              <a:rPr lang="ko-KR" altLang="en-US" sz="1200" dirty="0" smtClean="0"/>
              <a:t> 늘어나면서 채식주의자 식당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카페</a:t>
            </a:r>
            <a:r>
              <a:rPr lang="en-US" altLang="ko-KR" sz="1200" dirty="0" smtClean="0"/>
              <a:t>, </a:t>
            </a:r>
            <a:r>
              <a:rPr lang="ko-KR" altLang="en-US" sz="1200" dirty="0" err="1" smtClean="0"/>
              <a:t>밀키트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다양한 비건 레시피까지 생기고 있어</a:t>
            </a:r>
          </a:p>
          <a:p>
            <a:pPr algn="ctr"/>
            <a:r>
              <a:rPr lang="ko-KR" altLang="en-US" sz="1200" dirty="0" smtClean="0"/>
              <a:t>트렌드가 아닌 문화로 굳혀지는 걸로 보인다</a:t>
            </a:r>
          </a:p>
          <a:p>
            <a:pPr algn="ctr"/>
            <a:endParaRPr lang="ko-KR" altLang="en-US" sz="1200" dirty="0" smtClean="0"/>
          </a:p>
          <a:p>
            <a:pPr algn="ctr"/>
            <a:r>
              <a:rPr lang="ko-KR" altLang="en-US" sz="1200" dirty="0" err="1" smtClean="0"/>
              <a:t>증가수가</a:t>
            </a:r>
            <a:r>
              <a:rPr lang="ko-KR" altLang="en-US" sz="1200" dirty="0" smtClean="0"/>
              <a:t> 높아지는 만큼 채식주의자를 위한 앱을 개발해 편의성을 높여주고자 한다</a:t>
            </a:r>
            <a:r>
              <a:rPr lang="en-US" altLang="ko-KR" sz="1200" dirty="0" smtClean="0"/>
              <a:t>.</a:t>
            </a:r>
          </a:p>
          <a:p>
            <a:pPr algn="ctr"/>
            <a:endParaRPr lang="en-US" altLang="ko-KR" sz="1200" dirty="0" smtClean="0"/>
          </a:p>
          <a:p>
            <a:pPr algn="ctr"/>
            <a:r>
              <a:rPr lang="ko-KR" altLang="en-US" sz="1200" dirty="0" smtClean="0"/>
              <a:t>채식주의자가 아닌 사람도 앱을 통해 채식에 대한 관심을 가질 수 있으며</a:t>
            </a:r>
            <a:r>
              <a:rPr lang="en-US" altLang="ko-KR" sz="1200" dirty="0" smtClean="0"/>
              <a:t>,</a:t>
            </a:r>
          </a:p>
          <a:p>
            <a:pPr algn="ctr"/>
            <a:r>
              <a:rPr lang="ko-KR" altLang="en-US" sz="1200" dirty="0" err="1" smtClean="0"/>
              <a:t>플렉시테리언처럼</a:t>
            </a:r>
            <a:r>
              <a:rPr lang="ko-KR" altLang="en-US" sz="1200" dirty="0" smtClean="0"/>
              <a:t> 육식까지 섭취하면서 유연한 채식주의자가 될 수도 있다</a:t>
            </a:r>
            <a:r>
              <a:rPr lang="en-US" altLang="ko-KR" sz="1200" dirty="0" smtClean="0"/>
              <a:t>.</a:t>
            </a:r>
          </a:p>
          <a:p>
            <a:pPr algn="ctr"/>
            <a:r>
              <a:rPr lang="ko-KR" altLang="en-US" sz="1200" dirty="0" smtClean="0"/>
              <a:t>채식을 하면 건강한 삶을 오래 유지할 수 있으며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체중 증가를 막아주고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성인병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암 등 다양한 질병을 막아 줄 수 있어</a:t>
            </a:r>
          </a:p>
          <a:p>
            <a:pPr algn="ctr"/>
            <a:r>
              <a:rPr lang="ko-KR" altLang="en-US" sz="1200" dirty="0" smtClean="0"/>
              <a:t>보다 건강한 삶을 살 수 있다</a:t>
            </a:r>
            <a:r>
              <a:rPr lang="en-US" altLang="ko-KR" sz="1200" dirty="0" smtClean="0"/>
              <a:t>.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4671753" y="1185336"/>
            <a:ext cx="2734887" cy="3693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4924081" y="1185336"/>
            <a:ext cx="2316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</a:rPr>
              <a:t>개발 배경 및 필요성</a:t>
            </a:r>
            <a:endParaRPr lang="en-US" altLang="ko-KR" dirty="0" smtClean="0">
              <a:solidFill>
                <a:schemeClr val="bg1"/>
              </a:solidFill>
            </a:endParaRPr>
          </a:p>
          <a:p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2420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06374" y="3400170"/>
            <a:ext cx="71272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사용자의 위치를 기반으로 주변 식당을 알려줌으로써</a:t>
            </a:r>
            <a:r>
              <a:rPr lang="en-US" altLang="ko-KR" sz="1200" dirty="0"/>
              <a:t> </a:t>
            </a:r>
            <a:r>
              <a:rPr lang="ko-KR" altLang="en-US" sz="1200" dirty="0" smtClean="0"/>
              <a:t>복잡한 절차없이 보다 편리하게 이용할 수 있다</a:t>
            </a:r>
            <a:r>
              <a:rPr lang="en-US" altLang="ko-KR" sz="1200" dirty="0" smtClean="0"/>
              <a:t>.</a:t>
            </a:r>
            <a:endParaRPr lang="ko-KR" altLang="en-US" sz="1200" dirty="0"/>
          </a:p>
        </p:txBody>
      </p:sp>
      <p:sp>
        <p:nvSpPr>
          <p:cNvPr id="4" name="직사각형 3"/>
          <p:cNvSpPr/>
          <p:nvPr/>
        </p:nvSpPr>
        <p:spPr>
          <a:xfrm>
            <a:off x="5162203" y="2274303"/>
            <a:ext cx="1521229" cy="3693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414531" y="2274303"/>
            <a:ext cx="1110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</a:rPr>
              <a:t>개발목표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8156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06374" y="3400170"/>
            <a:ext cx="65421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 smtClean="0"/>
              <a:t>8</a:t>
            </a:r>
            <a:r>
              <a:rPr lang="ko-KR" altLang="en-US" sz="1200" dirty="0" smtClean="0"/>
              <a:t>가지 채식의 종류별 대로 식당을 알려주고</a:t>
            </a:r>
            <a:r>
              <a:rPr lang="en-US" altLang="ko-KR" sz="1200" dirty="0"/>
              <a:t> </a:t>
            </a:r>
            <a:r>
              <a:rPr lang="ko-KR" altLang="en-US" sz="1200" dirty="0" smtClean="0"/>
              <a:t>채식 레시피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채식주의자들끼리의 소통공간에서</a:t>
            </a:r>
            <a:endParaRPr lang="en-US" altLang="ko-KR" sz="1200" dirty="0" smtClean="0"/>
          </a:p>
          <a:p>
            <a:pPr algn="ctr"/>
            <a:r>
              <a:rPr lang="ko-KR" altLang="en-US" sz="1200" dirty="0" smtClean="0"/>
              <a:t>다양한 소식을 주고받을 수 있는 서비스를 제공한다</a:t>
            </a:r>
            <a:r>
              <a:rPr lang="en-US" altLang="ko-KR" sz="1200" dirty="0" smtClean="0"/>
              <a:t>.</a:t>
            </a:r>
            <a:endParaRPr lang="ko-KR" altLang="en-US" sz="1200" dirty="0"/>
          </a:p>
        </p:txBody>
      </p:sp>
      <p:sp>
        <p:nvSpPr>
          <p:cNvPr id="4" name="직사각형 3"/>
          <p:cNvSpPr/>
          <p:nvPr/>
        </p:nvSpPr>
        <p:spPr>
          <a:xfrm>
            <a:off x="4530434" y="2274303"/>
            <a:ext cx="2518757" cy="3693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4782763" y="2274303"/>
            <a:ext cx="2133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</a:rPr>
              <a:t>개발 개요 및 내용</a:t>
            </a:r>
            <a:endParaRPr lang="en-US" altLang="ko-KR" dirty="0" smtClean="0">
              <a:solidFill>
                <a:schemeClr val="bg1"/>
              </a:solidFill>
            </a:endParaRPr>
          </a:p>
          <a:p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946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730" y="1806039"/>
            <a:ext cx="1876149" cy="380059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7380" y="1806039"/>
            <a:ext cx="1866249" cy="378054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4130" y="1809567"/>
            <a:ext cx="1864508" cy="3777013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4921125" y="395627"/>
            <a:ext cx="2518757" cy="7349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개발 개요 및 내용</a:t>
            </a:r>
            <a:endParaRPr lang="en-US" altLang="ko-KR" dirty="0" smtClean="0"/>
          </a:p>
          <a:p>
            <a:pPr algn="ctr"/>
            <a:r>
              <a:rPr lang="ko-KR" altLang="en-US" sz="1600" dirty="0" smtClean="0"/>
              <a:t>디자인 시안</a:t>
            </a:r>
            <a:endParaRPr lang="ko-KR" altLang="en-US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1484881" y="6084917"/>
            <a:ext cx="10278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앱 첫 화면</a:t>
            </a:r>
            <a:endParaRPr lang="en-US" altLang="ko-KR" sz="1400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5576812" y="6084917"/>
            <a:ext cx="12073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앱 메인 화면</a:t>
            </a:r>
            <a:endParaRPr lang="en-US" altLang="ko-KR" sz="14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9480130" y="6084917"/>
            <a:ext cx="18085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앱 소식 페이지 화면</a:t>
            </a:r>
            <a:endParaRPr lang="en-US" altLang="ko-KR" sz="1400" dirty="0" smtClean="0"/>
          </a:p>
        </p:txBody>
      </p:sp>
    </p:spTree>
    <p:extLst>
      <p:ext uri="{BB962C8B-B14F-4D97-AF65-F5344CB8AC3E}">
        <p14:creationId xmlns:p14="http://schemas.microsoft.com/office/powerpoint/2010/main" val="1154020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270237"/>
              </p:ext>
            </p:extLst>
          </p:nvPr>
        </p:nvGraphicFramePr>
        <p:xfrm>
          <a:off x="723907" y="1905000"/>
          <a:ext cx="10772767" cy="341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337">
                  <a:extLst>
                    <a:ext uri="{9D8B030D-6E8A-4147-A177-3AD203B41FA5}">
                      <a16:colId xmlns:a16="http://schemas.microsoft.com/office/drawing/2014/main" val="3847661733"/>
                    </a:ext>
                  </a:extLst>
                </a:gridCol>
                <a:gridCol w="1657353">
                  <a:extLst>
                    <a:ext uri="{9D8B030D-6E8A-4147-A177-3AD203B41FA5}">
                      <a16:colId xmlns:a16="http://schemas.microsoft.com/office/drawing/2014/main" val="433865940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1525717590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100114023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3489582244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1112036690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3174158156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176950258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516961068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320138983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2589154927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3660726243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3880650393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2439118497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3097658205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4235113941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3005530438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1700523118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1586268568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1584623691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47210292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1981177080"/>
                    </a:ext>
                  </a:extLst>
                </a:gridCol>
                <a:gridCol w="428624">
                  <a:extLst>
                    <a:ext uri="{9D8B030D-6E8A-4147-A177-3AD203B41FA5}">
                      <a16:colId xmlns:a16="http://schemas.microsoft.com/office/drawing/2014/main" val="1274439078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추진내용</a:t>
                      </a:r>
                      <a:endParaRPr lang="en-US" altLang="ko-KR" sz="1200" dirty="0" smtClean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gridSpan="20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추진일정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체크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51858"/>
                  </a:ext>
                </a:extLst>
              </a:tr>
              <a:tr h="26860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en-US" altLang="ko-KR" sz="12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4905482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1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요구사항 분석</a:t>
                      </a:r>
                      <a:endParaRPr lang="en-US" altLang="ko-KR" sz="1200" dirty="0" smtClean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320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2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개발 환경 구성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885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3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서비스</a:t>
                      </a:r>
                      <a:r>
                        <a:rPr lang="en-US" altLang="ko-KR" sz="1200" dirty="0" smtClean="0"/>
                        <a:t>&amp;</a:t>
                      </a:r>
                      <a:r>
                        <a:rPr lang="ko-KR" altLang="en-US" sz="1200" dirty="0" smtClean="0"/>
                        <a:t>디자인 설계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229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4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서비스 사이트 구축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7871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5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앱 개발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88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6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기능 디버깅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2497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7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통합 시험 및 연동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9733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8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시스템</a:t>
                      </a:r>
                      <a:r>
                        <a:rPr lang="ko-KR" altLang="en-US" sz="1200" baseline="0" dirty="0" smtClean="0"/>
                        <a:t> 보안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320533"/>
                  </a:ext>
                </a:extLst>
              </a:tr>
            </a:tbl>
          </a:graphicData>
        </a:graphic>
      </p:graphicFrame>
      <p:cxnSp>
        <p:nvCxnSpPr>
          <p:cNvPr id="10" name="직선 화살표 연결선 9"/>
          <p:cNvCxnSpPr/>
          <p:nvPr/>
        </p:nvCxnSpPr>
        <p:spPr>
          <a:xfrm>
            <a:off x="2819400" y="2581275"/>
            <a:ext cx="74295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/>
          <p:nvPr/>
        </p:nvCxnSpPr>
        <p:spPr>
          <a:xfrm>
            <a:off x="3667125" y="2943225"/>
            <a:ext cx="74295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/>
          <p:nvPr/>
        </p:nvCxnSpPr>
        <p:spPr>
          <a:xfrm>
            <a:off x="4486275" y="3305175"/>
            <a:ext cx="1209675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>
            <a:off x="5738815" y="3686175"/>
            <a:ext cx="74295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>
            <a:off x="6562725" y="4048125"/>
            <a:ext cx="2828925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>
            <a:off x="9482140" y="4400550"/>
            <a:ext cx="116681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>
            <a:off x="9906000" y="4800600"/>
            <a:ext cx="116205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>
            <a:off x="10696575" y="5172075"/>
            <a:ext cx="74295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5162202" y="650915"/>
            <a:ext cx="1720735" cy="3693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5414531" y="650915"/>
            <a:ext cx="1268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</a:rPr>
              <a:t>개발 일정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3254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187771" y="3400170"/>
            <a:ext cx="56813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 smtClean="0"/>
              <a:t>현 위치를 기반으로 근처 식당 </a:t>
            </a:r>
            <a:r>
              <a:rPr lang="en-US" altLang="ko-KR" sz="1200" dirty="0" smtClean="0"/>
              <a:t>&amp; </a:t>
            </a:r>
            <a:r>
              <a:rPr lang="ko-KR" altLang="en-US" sz="1200" dirty="0" smtClean="0"/>
              <a:t>카페를 편리하게 알려줌으로 베터리 소모 절감</a:t>
            </a:r>
            <a:endParaRPr lang="en-US" altLang="ko-KR" sz="1200" dirty="0" smtClean="0"/>
          </a:p>
          <a:p>
            <a:pPr algn="ctr"/>
            <a:r>
              <a:rPr lang="ko-KR" altLang="en-US" sz="1200" dirty="0" smtClean="0"/>
              <a:t>채식주의자 들간의 소통으로 유대감 증진 </a:t>
            </a:r>
            <a:r>
              <a:rPr lang="en-US" altLang="ko-KR" sz="1200" dirty="0" smtClean="0"/>
              <a:t>&amp; </a:t>
            </a:r>
            <a:r>
              <a:rPr lang="ko-KR" altLang="en-US" sz="1200" dirty="0" smtClean="0"/>
              <a:t>유입 수 증가</a:t>
            </a:r>
            <a:endParaRPr lang="en-US" altLang="ko-KR" sz="1200" dirty="0" smtClean="0"/>
          </a:p>
        </p:txBody>
      </p:sp>
      <p:sp>
        <p:nvSpPr>
          <p:cNvPr id="5" name="직사각형 4"/>
          <p:cNvSpPr/>
          <p:nvPr/>
        </p:nvSpPr>
        <p:spPr>
          <a:xfrm>
            <a:off x="5201335" y="2274303"/>
            <a:ext cx="1654235" cy="3693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5452190" y="2274303"/>
            <a:ext cx="1152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mtClean="0">
                <a:solidFill>
                  <a:schemeClr val="bg1"/>
                </a:solidFill>
              </a:rPr>
              <a:t>기대효과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25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921071"/>
              </p:ext>
            </p:extLst>
          </p:nvPr>
        </p:nvGraphicFramePr>
        <p:xfrm>
          <a:off x="2032000" y="2876012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5512956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7702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8065234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항목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예상비용</a:t>
                      </a:r>
                      <a:r>
                        <a:rPr lang="en-US" altLang="ko-KR" sz="1200" dirty="0" smtClean="0"/>
                        <a:t>(</a:t>
                      </a:r>
                      <a:r>
                        <a:rPr lang="ko-KR" altLang="en-US" sz="1200" dirty="0" smtClean="0"/>
                        <a:t>만</a:t>
                      </a:r>
                      <a:r>
                        <a:rPr lang="en-US" altLang="ko-KR" sz="1200" dirty="0" smtClean="0"/>
                        <a:t>)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세부내역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390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무선 단말기 구입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120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애플 스마트폰 구입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548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서버 구축 및 유지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180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599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/>
                        <a:t>인권비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300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73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합계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600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185760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5079074" y="1916856"/>
            <a:ext cx="1654235" cy="3693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5331404" y="1916856"/>
            <a:ext cx="1152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</a:rPr>
              <a:t>예산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8385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6030" y="3400170"/>
            <a:ext cx="56428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 smtClean="0"/>
              <a:t>폭포수 모델은 소프트웨어 개발 과정 모델에서 가장 자주 쓰이는 모델이다</a:t>
            </a:r>
            <a:r>
              <a:rPr lang="en-US" altLang="ko-KR" sz="1200" dirty="0" smtClean="0"/>
              <a:t>.</a:t>
            </a:r>
          </a:p>
          <a:p>
            <a:pPr algn="ctr"/>
            <a:r>
              <a:rPr lang="en-US" altLang="ko-KR" sz="1200" dirty="0" smtClean="0"/>
              <a:t>1950</a:t>
            </a:r>
            <a:r>
              <a:rPr lang="ko-KR" altLang="en-US" sz="1200" dirty="0" smtClean="0"/>
              <a:t>년 처음 등장하였으며</a:t>
            </a:r>
            <a:r>
              <a:rPr lang="en-US" altLang="ko-KR" sz="1200" dirty="0" smtClean="0"/>
              <a:t>, 1970</a:t>
            </a:r>
            <a:r>
              <a:rPr lang="ko-KR" altLang="en-US" sz="1200" dirty="0" smtClean="0"/>
              <a:t>년대에 보급되어 산업 현장의 표준으로 쓰인다</a:t>
            </a:r>
            <a:r>
              <a:rPr lang="en-US" altLang="ko-KR" sz="1200" dirty="0" smtClean="0"/>
              <a:t>.</a:t>
            </a:r>
            <a:endParaRPr lang="ko-KR" altLang="en-US" sz="1200" dirty="0"/>
          </a:p>
        </p:txBody>
      </p:sp>
      <p:sp>
        <p:nvSpPr>
          <p:cNvPr id="5" name="직사각형 4"/>
          <p:cNvSpPr/>
          <p:nvPr/>
        </p:nvSpPr>
        <p:spPr>
          <a:xfrm>
            <a:off x="2856031" y="2274303"/>
            <a:ext cx="5506458" cy="3693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3189286" y="2274303"/>
            <a:ext cx="4976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</a:rPr>
              <a:t>소프트웨어 개발 프로세스 모델 </a:t>
            </a:r>
            <a:r>
              <a:rPr lang="en-US" altLang="ko-KR" dirty="0" smtClean="0">
                <a:solidFill>
                  <a:schemeClr val="bg1"/>
                </a:solidFill>
              </a:rPr>
              <a:t>– </a:t>
            </a:r>
            <a:r>
              <a:rPr lang="ko-KR" altLang="en-US" dirty="0" smtClean="0">
                <a:solidFill>
                  <a:schemeClr val="bg1"/>
                </a:solidFill>
              </a:rPr>
              <a:t>폭포수 모델</a:t>
            </a:r>
            <a:endParaRPr lang="en-US" altLang="ko-KR" dirty="0" smtClean="0">
              <a:solidFill>
                <a:schemeClr val="bg1"/>
              </a:solidFill>
            </a:endParaRPr>
          </a:p>
          <a:p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260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525846"/>
              </p:ext>
            </p:extLst>
          </p:nvPr>
        </p:nvGraphicFramePr>
        <p:xfrm>
          <a:off x="2032000" y="2876012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5512956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702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4584821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065234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플랫폼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개발 언어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개발 툴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개발 환경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390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Android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Java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Android SDK Eclipse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Win</a:t>
                      </a:r>
                      <a:r>
                        <a:rPr lang="en-US" altLang="ko-KR" sz="1200" baseline="0" dirty="0" smtClean="0"/>
                        <a:t> I Linux I Mac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548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iPhone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Objective</a:t>
                      </a:r>
                      <a:r>
                        <a:rPr lang="en-US" altLang="ko-KR" sz="1200" baseline="0" dirty="0" smtClean="0"/>
                        <a:t> - C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 smtClean="0"/>
                        <a:t>Xcode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Only Mac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599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0501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374</Words>
  <Application>Microsoft Office PowerPoint</Application>
  <PresentationFormat>와이드스크린</PresentationFormat>
  <Paragraphs>105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33</cp:revision>
  <dcterms:created xsi:type="dcterms:W3CDTF">2023-06-20T00:57:37Z</dcterms:created>
  <dcterms:modified xsi:type="dcterms:W3CDTF">2023-06-20T08:27:57Z</dcterms:modified>
</cp:coreProperties>
</file>